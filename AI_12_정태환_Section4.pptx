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61" r:id="rId4"/>
    <p:sldId id="262" r:id="rId5"/>
    <p:sldId id="264" r:id="rId6"/>
    <p:sldId id="275" r:id="rId7"/>
    <p:sldId id="276" r:id="rId8"/>
    <p:sldId id="274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C1E"/>
    <a:srgbClr val="2F5BA3"/>
    <a:srgbClr val="FFF49B"/>
    <a:srgbClr val="E9B5D0"/>
    <a:srgbClr val="5952B6"/>
    <a:srgbClr val="7F7F7F"/>
    <a:srgbClr val="A6628C"/>
    <a:srgbClr val="775C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8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6EAB4-9153-46AD-BAFA-D2960EDBF0A9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74BEF-4C97-4746-AE23-58BFB56F8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60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17E8E-E185-459F-A946-8B0EB19BBD93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77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17E8E-E185-459F-A946-8B0EB19BBD93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99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17E8E-E185-459F-A946-8B0EB19BBD93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76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17E8E-E185-459F-A946-8B0EB19BBD93}" type="slidenum">
              <a:rPr lang="ko-KR" altLang="en-US" smtClean="0">
                <a:solidFill>
                  <a:prstClr val="black"/>
                </a:solidFill>
              </a:rPr>
              <a:pPr/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07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99419"/>
            <a:ext cx="7772400" cy="792163"/>
          </a:xfrm>
        </p:spPr>
        <p:txBody>
          <a:bodyPr anchor="b">
            <a:normAutofit/>
          </a:bodyPr>
          <a:lstStyle>
            <a:lvl1pPr algn="ctr">
              <a:defRPr lang="en-US" sz="4400" b="1" kern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8417" y="2522538"/>
            <a:ext cx="3227165" cy="433965"/>
          </a:xfrm>
          <a:noFill/>
        </p:spPr>
        <p:txBody>
          <a:bodyPr wrap="none" rtlCol="0">
            <a:spAutoFit/>
          </a:bodyPr>
          <a:lstStyle>
            <a:lvl1pPr marL="0" indent="0" algn="ctr">
              <a:buNone/>
              <a:defRPr lang="en-US" sz="2400" kern="12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</a:lstStyle>
          <a:p>
            <a:pPr marL="0" lvl="0" algn="ctr"/>
            <a:r>
              <a:rPr lang="ko-KR" altLang="en-US" dirty="0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9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766" y="101757"/>
            <a:ext cx="7924634" cy="519373"/>
          </a:xfrm>
          <a:noFill/>
        </p:spPr>
        <p:txBody>
          <a:bodyPr wrap="square" rtlCol="0">
            <a:spAutoFit/>
          </a:bodyPr>
          <a:lstStyle>
            <a:lvl1pPr algn="l">
              <a:defRPr lang="en-US" sz="3000" b="1" kern="1200" spc="-10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</a:lstStyle>
          <a:p>
            <a:pPr marL="0" lvl="0" algn="ctr"/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3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6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897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1C92-7E38-43A5-AB84-9DB4E9BA64B8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A52E-965E-4E3E-B7A1-00FA0713C3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40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1C92-7E38-43A5-AB84-9DB4E9BA64B8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A52E-965E-4E3E-B7A1-00FA0713C3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60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1C92-7E38-43A5-AB84-9DB4E9BA64B8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A52E-965E-4E3E-B7A1-00FA0713C3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839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1C92-7E38-43A5-AB84-9DB4E9BA64B8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A52E-965E-4E3E-B7A1-00FA0713C3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4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1C92-7E38-43A5-AB84-9DB4E9BA64B8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A52E-965E-4E3E-B7A1-00FA0713C3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50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1C92-7E38-43A5-AB84-9DB4E9BA64B8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A52E-965E-4E3E-B7A1-00FA0713C3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3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1C92-7E38-43A5-AB84-9DB4E9BA64B8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A52E-965E-4E3E-B7A1-00FA0713C3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484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715418" y="199024"/>
            <a:ext cx="184731" cy="4901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latinLnBrk="0">
              <a:spcBef>
                <a:spcPts val="185"/>
              </a:spcBef>
              <a:tabLst>
                <a:tab pos="65944" algn="l"/>
                <a:tab pos="105510" algn="l"/>
              </a:tabLst>
            </a:pPr>
            <a:endParaRPr lang="en-US" altLang="ko-KR" sz="2585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775147" y="241982"/>
            <a:ext cx="8168054" cy="523875"/>
          </a:xfrm>
        </p:spPr>
        <p:txBody>
          <a:bodyPr>
            <a:normAutofit/>
          </a:bodyPr>
          <a:lstStyle>
            <a:lvl1pPr marL="0" indent="0" algn="l" defTabSz="844083" rtl="0" eaLnBrk="1" latinLnBrk="0" hangingPunct="1">
              <a:spcBef>
                <a:spcPts val="171"/>
              </a:spcBef>
              <a:buNone/>
              <a:tabLst>
                <a:tab pos="60873" algn="l"/>
                <a:tab pos="97396" algn="l"/>
              </a:tabLst>
              <a:defRPr lang="ko-KR" altLang="en-US" sz="2585" b="1" kern="120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6380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F1C92-7E38-43A5-AB84-9DB4E9BA64B8}" type="datetimeFigureOut">
              <a:rPr lang="ko-KR" altLang="en-US" smtClean="0"/>
              <a:t>2022-05-27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A52E-965E-4E3E-B7A1-00FA0713C3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36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pc="-100" dirty="0">
                <a:solidFill>
                  <a:srgbClr val="F9AC1E"/>
                </a:solidFill>
              </a:rPr>
              <a:t>AI_12_Section4_Project</a:t>
            </a:r>
            <a:endParaRPr lang="ko-KR" altLang="en-US" spc="-1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671752" y="2522538"/>
            <a:ext cx="1800494" cy="433965"/>
          </a:xfrm>
        </p:spPr>
        <p:txBody>
          <a:bodyPr/>
          <a:lstStyle/>
          <a:p>
            <a:r>
              <a:rPr lang="en-US" altLang="ko-KR" spc="-100" dirty="0"/>
              <a:t>AI_12_</a:t>
            </a:r>
            <a:r>
              <a:rPr lang="ko-KR" altLang="en-US" spc="-100" dirty="0"/>
              <a:t>정태환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EA786B-5C85-9084-AA6E-E2E8915E7BB3}"/>
              </a:ext>
            </a:extLst>
          </p:cNvPr>
          <p:cNvSpPr/>
          <p:nvPr/>
        </p:nvSpPr>
        <p:spPr>
          <a:xfrm>
            <a:off x="2577258" y="3259723"/>
            <a:ext cx="4301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49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위성영상 구름 이미지를 통해 구름 위치 예측해보기</a:t>
            </a:r>
          </a:p>
        </p:txBody>
      </p:sp>
    </p:spTree>
    <p:extLst>
      <p:ext uri="{BB962C8B-B14F-4D97-AF65-F5344CB8AC3E}">
        <p14:creationId xmlns:p14="http://schemas.microsoft.com/office/powerpoint/2010/main" val="183485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27513" y="1066800"/>
            <a:ext cx="2088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en-US" altLang="ko-KR" sz="3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50593" y="2032060"/>
            <a:ext cx="2965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주제 선정 이유</a:t>
            </a:r>
            <a:r>
              <a:rPr lang="en-US" altLang="ko-KR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</a:t>
            </a:r>
            <a:r>
              <a:rPr lang="en-US" altLang="ko-KR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</a:t>
            </a:r>
            <a:r>
              <a:rPr lang="en-US" altLang="ko-KR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5721" y="2044700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5947" y="2654300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소개</a:t>
            </a:r>
            <a:endParaRPr lang="en-US" altLang="ko-KR" sz="2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15721" y="2654300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0696" y="3263900"/>
            <a:ext cx="2005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한계점 및 발전계획</a:t>
            </a:r>
            <a:endParaRPr lang="en-US" altLang="ko-KR" sz="20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15721" y="3263900"/>
            <a:ext cx="32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7929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주제 선정 이유</a:t>
            </a:r>
            <a:r>
              <a:rPr lang="en-US" altLang="ko-KR" dirty="0"/>
              <a:t>(</a:t>
            </a:r>
            <a:r>
              <a:rPr lang="ko-KR" altLang="en-US" dirty="0"/>
              <a:t>배경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FCBE2FCF-BE47-C856-B862-ACCC5481FAC2}"/>
              </a:ext>
            </a:extLst>
          </p:cNvPr>
          <p:cNvSpPr>
            <a:spLocks/>
          </p:cNvSpPr>
          <p:nvPr/>
        </p:nvSpPr>
        <p:spPr bwMode="auto">
          <a:xfrm>
            <a:off x="6089162" y="1319695"/>
            <a:ext cx="2699238" cy="490904"/>
          </a:xfrm>
          <a:custGeom>
            <a:avLst/>
            <a:gdLst>
              <a:gd name="T0" fmla="*/ 744 w 777"/>
              <a:gd name="T1" fmla="*/ 0 h 141"/>
              <a:gd name="T2" fmla="*/ 32 w 777"/>
              <a:gd name="T3" fmla="*/ 0 h 141"/>
              <a:gd name="T4" fmla="*/ 0 w 777"/>
              <a:gd name="T5" fmla="*/ 33 h 141"/>
              <a:gd name="T6" fmla="*/ 0 w 777"/>
              <a:gd name="T7" fmla="*/ 141 h 141"/>
              <a:gd name="T8" fmla="*/ 777 w 777"/>
              <a:gd name="T9" fmla="*/ 141 h 141"/>
              <a:gd name="T10" fmla="*/ 777 w 777"/>
              <a:gd name="T11" fmla="*/ 33 h 141"/>
              <a:gd name="T12" fmla="*/ 744 w 777"/>
              <a:gd name="T13" fmla="*/ 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7" h="141">
                <a:moveTo>
                  <a:pt x="744" y="0"/>
                </a:moveTo>
                <a:cubicBezTo>
                  <a:pt x="32" y="0"/>
                  <a:pt x="32" y="0"/>
                  <a:pt x="32" y="0"/>
                </a:cubicBezTo>
                <a:cubicBezTo>
                  <a:pt x="14" y="0"/>
                  <a:pt x="0" y="15"/>
                  <a:pt x="0" y="33"/>
                </a:cubicBezTo>
                <a:cubicBezTo>
                  <a:pt x="0" y="141"/>
                  <a:pt x="0" y="141"/>
                  <a:pt x="0" y="141"/>
                </a:cubicBezTo>
                <a:cubicBezTo>
                  <a:pt x="777" y="141"/>
                  <a:pt x="777" y="141"/>
                  <a:pt x="777" y="141"/>
                </a:cubicBezTo>
                <a:cubicBezTo>
                  <a:pt x="777" y="33"/>
                  <a:pt x="777" y="33"/>
                  <a:pt x="777" y="33"/>
                </a:cubicBezTo>
                <a:cubicBezTo>
                  <a:pt x="777" y="15"/>
                  <a:pt x="762" y="0"/>
                  <a:pt x="744" y="0"/>
                </a:cubicBezTo>
                <a:close/>
              </a:path>
            </a:pathLst>
          </a:custGeom>
          <a:solidFill>
            <a:srgbClr val="2F5BA3"/>
          </a:solidFill>
          <a:ln>
            <a:solidFill>
              <a:srgbClr val="2F5B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spcBef>
                <a:spcPts val="171"/>
              </a:spcBef>
              <a:tabLst>
                <a:tab pos="60873" algn="l"/>
                <a:tab pos="97396" algn="l"/>
              </a:tabLst>
            </a:pPr>
            <a:r>
              <a:rPr lang="ko-KR" altLang="en-US" sz="1704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식량 위기</a:t>
            </a:r>
          </a:p>
        </p:txBody>
      </p:sp>
      <p:sp>
        <p:nvSpPr>
          <p:cNvPr id="10" name="자유형 66">
            <a:extLst>
              <a:ext uri="{FF2B5EF4-FFF2-40B4-BE49-F238E27FC236}">
                <a16:creationId xmlns:a16="http://schemas.microsoft.com/office/drawing/2014/main" id="{E664945D-E86F-9C8F-2797-3FA22CF4B8B9}"/>
              </a:ext>
            </a:extLst>
          </p:cNvPr>
          <p:cNvSpPr>
            <a:spLocks/>
          </p:cNvSpPr>
          <p:nvPr/>
        </p:nvSpPr>
        <p:spPr bwMode="auto">
          <a:xfrm>
            <a:off x="6089162" y="1810600"/>
            <a:ext cx="2699238" cy="1894489"/>
          </a:xfrm>
          <a:custGeom>
            <a:avLst/>
            <a:gdLst>
              <a:gd name="connsiteX0" fmla="*/ 0 w 2924175"/>
              <a:gd name="connsiteY0" fmla="*/ 0 h 2052363"/>
              <a:gd name="connsiteX1" fmla="*/ 2924175 w 2924175"/>
              <a:gd name="connsiteY1" fmla="*/ 0 h 2052363"/>
              <a:gd name="connsiteX2" fmla="*/ 2924175 w 2924175"/>
              <a:gd name="connsiteY2" fmla="*/ 1932116 h 2052363"/>
              <a:gd name="connsiteX3" fmla="*/ 2847966 w 2924175"/>
              <a:gd name="connsiteY3" fmla="*/ 2043340 h 2052363"/>
              <a:gd name="connsiteX4" fmla="*/ 2801401 w 2924175"/>
              <a:gd name="connsiteY4" fmla="*/ 2052363 h 2052363"/>
              <a:gd name="connsiteX5" fmla="*/ 119028 w 2924175"/>
              <a:gd name="connsiteY5" fmla="*/ 2052363 h 2052363"/>
              <a:gd name="connsiteX6" fmla="*/ 73034 w 2924175"/>
              <a:gd name="connsiteY6" fmla="*/ 2043340 h 2052363"/>
              <a:gd name="connsiteX7" fmla="*/ 0 w 2924175"/>
              <a:gd name="connsiteY7" fmla="*/ 1932116 h 2052363"/>
              <a:gd name="connsiteX8" fmla="*/ 0 w 2924175"/>
              <a:gd name="connsiteY8" fmla="*/ 0 h 205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4175" h="2052363">
                <a:moveTo>
                  <a:pt x="0" y="0"/>
                </a:moveTo>
                <a:lnTo>
                  <a:pt x="2924175" y="0"/>
                </a:lnTo>
                <a:cubicBezTo>
                  <a:pt x="2924175" y="0"/>
                  <a:pt x="2924175" y="0"/>
                  <a:pt x="2924175" y="1932116"/>
                </a:cubicBezTo>
                <a:cubicBezTo>
                  <a:pt x="2924175" y="1982961"/>
                  <a:pt x="2892421" y="2025332"/>
                  <a:pt x="2847966" y="2043340"/>
                </a:cubicBezTo>
                <a:lnTo>
                  <a:pt x="2801401" y="2052363"/>
                </a:lnTo>
                <a:lnTo>
                  <a:pt x="119028" y="2052363"/>
                </a:lnTo>
                <a:lnTo>
                  <a:pt x="73034" y="2043340"/>
                </a:lnTo>
                <a:cubicBezTo>
                  <a:pt x="29637" y="2025332"/>
                  <a:pt x="0" y="1982961"/>
                  <a:pt x="0" y="1932116"/>
                </a:cubicBezTo>
                <a:cubicBezTo>
                  <a:pt x="0" y="1932116"/>
                  <a:pt x="0" y="1932116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5BA3"/>
            </a:solidFill>
            <a:round/>
            <a:headEnd/>
            <a:tailEnd/>
          </a:ln>
        </p:spPr>
        <p:txBody>
          <a:bodyPr vert="horz" wrap="square" lIns="199385" tIns="0" rIns="199385" bIns="42203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우크라이나 전쟁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인도네시아</a:t>
            </a:r>
            <a:r>
              <a:rPr lang="en-US" altLang="ko-KR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363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팜유</a:t>
            </a:r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수출 중단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인도 밀 수출금지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전염병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5BEBF03C-D2D9-FCD0-1C9B-CE455BA0F748}"/>
              </a:ext>
            </a:extLst>
          </p:cNvPr>
          <p:cNvSpPr>
            <a:spLocks/>
          </p:cNvSpPr>
          <p:nvPr/>
        </p:nvSpPr>
        <p:spPr bwMode="auto">
          <a:xfrm>
            <a:off x="3306397" y="1319694"/>
            <a:ext cx="2699238" cy="486508"/>
          </a:xfrm>
          <a:custGeom>
            <a:avLst/>
            <a:gdLst>
              <a:gd name="T0" fmla="*/ 744 w 777"/>
              <a:gd name="T1" fmla="*/ 0 h 140"/>
              <a:gd name="T2" fmla="*/ 32 w 777"/>
              <a:gd name="T3" fmla="*/ 0 h 140"/>
              <a:gd name="T4" fmla="*/ 0 w 777"/>
              <a:gd name="T5" fmla="*/ 32 h 140"/>
              <a:gd name="T6" fmla="*/ 0 w 777"/>
              <a:gd name="T7" fmla="*/ 140 h 140"/>
              <a:gd name="T8" fmla="*/ 777 w 777"/>
              <a:gd name="T9" fmla="*/ 140 h 140"/>
              <a:gd name="T10" fmla="*/ 777 w 777"/>
              <a:gd name="T11" fmla="*/ 32 h 140"/>
              <a:gd name="T12" fmla="*/ 744 w 777"/>
              <a:gd name="T13" fmla="*/ 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7" h="140">
                <a:moveTo>
                  <a:pt x="744" y="0"/>
                </a:moveTo>
                <a:cubicBezTo>
                  <a:pt x="32" y="0"/>
                  <a:pt x="32" y="0"/>
                  <a:pt x="32" y="0"/>
                </a:cubicBezTo>
                <a:cubicBezTo>
                  <a:pt x="14" y="0"/>
                  <a:pt x="0" y="14"/>
                  <a:pt x="0" y="32"/>
                </a:cubicBezTo>
                <a:cubicBezTo>
                  <a:pt x="0" y="140"/>
                  <a:pt x="0" y="140"/>
                  <a:pt x="0" y="140"/>
                </a:cubicBezTo>
                <a:cubicBezTo>
                  <a:pt x="777" y="140"/>
                  <a:pt x="777" y="140"/>
                  <a:pt x="777" y="140"/>
                </a:cubicBezTo>
                <a:cubicBezTo>
                  <a:pt x="777" y="32"/>
                  <a:pt x="777" y="32"/>
                  <a:pt x="777" y="32"/>
                </a:cubicBezTo>
                <a:cubicBezTo>
                  <a:pt x="777" y="14"/>
                  <a:pt x="762" y="0"/>
                  <a:pt x="744" y="0"/>
                </a:cubicBezTo>
                <a:close/>
              </a:path>
            </a:pathLst>
          </a:custGeom>
          <a:solidFill>
            <a:srgbClr val="3E3D4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spcBef>
                <a:spcPts val="171"/>
              </a:spcBef>
              <a:tabLst>
                <a:tab pos="60873" algn="l"/>
                <a:tab pos="97396" algn="l"/>
              </a:tabLst>
            </a:pPr>
            <a:r>
              <a:rPr lang="ko-KR" altLang="en-US" sz="1704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폭풍</a:t>
            </a:r>
            <a:r>
              <a:rPr lang="en-US" altLang="ko-KR" sz="1704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704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홍수</a:t>
            </a:r>
          </a:p>
        </p:txBody>
      </p:sp>
      <p:sp>
        <p:nvSpPr>
          <p:cNvPr id="28" name="자유형 65">
            <a:extLst>
              <a:ext uri="{FF2B5EF4-FFF2-40B4-BE49-F238E27FC236}">
                <a16:creationId xmlns:a16="http://schemas.microsoft.com/office/drawing/2014/main" id="{A8873C17-0182-1528-E5A0-89C3955F04D2}"/>
              </a:ext>
            </a:extLst>
          </p:cNvPr>
          <p:cNvSpPr>
            <a:spLocks/>
          </p:cNvSpPr>
          <p:nvPr/>
        </p:nvSpPr>
        <p:spPr bwMode="auto">
          <a:xfrm>
            <a:off x="3306397" y="1806201"/>
            <a:ext cx="2699238" cy="1898886"/>
          </a:xfrm>
          <a:custGeom>
            <a:avLst/>
            <a:gdLst>
              <a:gd name="connsiteX0" fmla="*/ 0 w 2924175"/>
              <a:gd name="connsiteY0" fmla="*/ 0 h 2057126"/>
              <a:gd name="connsiteX1" fmla="*/ 2924175 w 2924175"/>
              <a:gd name="connsiteY1" fmla="*/ 0 h 2057126"/>
              <a:gd name="connsiteX2" fmla="*/ 2924175 w 2924175"/>
              <a:gd name="connsiteY2" fmla="*/ 1930084 h 2057126"/>
              <a:gd name="connsiteX3" fmla="*/ 2799982 w 2924175"/>
              <a:gd name="connsiteY3" fmla="*/ 2054242 h 2057126"/>
              <a:gd name="connsiteX4" fmla="*/ 1610743 w 2924175"/>
              <a:gd name="connsiteY4" fmla="*/ 2054242 h 2057126"/>
              <a:gd name="connsiteX5" fmla="*/ 1608391 w 2924175"/>
              <a:gd name="connsiteY5" fmla="*/ 2055829 h 2057126"/>
              <a:gd name="connsiteX6" fmla="*/ 1606468 w 2924175"/>
              <a:gd name="connsiteY6" fmla="*/ 2057126 h 2057126"/>
              <a:gd name="connsiteX7" fmla="*/ 1313944 w 2924175"/>
              <a:gd name="connsiteY7" fmla="*/ 2057126 h 2057126"/>
              <a:gd name="connsiteX8" fmla="*/ 1309669 w 2924175"/>
              <a:gd name="connsiteY8" fmla="*/ 2054242 h 2057126"/>
              <a:gd name="connsiteX9" fmla="*/ 120429 w 2924175"/>
              <a:gd name="connsiteY9" fmla="*/ 2054242 h 2057126"/>
              <a:gd name="connsiteX10" fmla="*/ 0 w 2924175"/>
              <a:gd name="connsiteY10" fmla="*/ 1930084 h 2057126"/>
              <a:gd name="connsiteX11" fmla="*/ 0 w 2924175"/>
              <a:gd name="connsiteY11" fmla="*/ 0 h 205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24175" h="2057126">
                <a:moveTo>
                  <a:pt x="0" y="0"/>
                </a:moveTo>
                <a:lnTo>
                  <a:pt x="2924175" y="0"/>
                </a:lnTo>
                <a:cubicBezTo>
                  <a:pt x="2924175" y="0"/>
                  <a:pt x="2924175" y="0"/>
                  <a:pt x="2924175" y="1930084"/>
                </a:cubicBezTo>
                <a:cubicBezTo>
                  <a:pt x="2924175" y="1997807"/>
                  <a:pt x="2867724" y="2054242"/>
                  <a:pt x="2799982" y="2054242"/>
                </a:cubicBezTo>
                <a:cubicBezTo>
                  <a:pt x="2799982" y="2054242"/>
                  <a:pt x="2799982" y="2054242"/>
                  <a:pt x="1610743" y="2054242"/>
                </a:cubicBezTo>
                <a:cubicBezTo>
                  <a:pt x="1610743" y="2054242"/>
                  <a:pt x="1610743" y="2054242"/>
                  <a:pt x="1608391" y="2055829"/>
                </a:cubicBezTo>
                <a:lnTo>
                  <a:pt x="1606468" y="2057126"/>
                </a:lnTo>
                <a:lnTo>
                  <a:pt x="1313944" y="2057126"/>
                </a:lnTo>
                <a:lnTo>
                  <a:pt x="1309669" y="2054242"/>
                </a:lnTo>
                <a:cubicBezTo>
                  <a:pt x="1309669" y="2054242"/>
                  <a:pt x="1309669" y="2054242"/>
                  <a:pt x="120429" y="2054242"/>
                </a:cubicBezTo>
                <a:cubicBezTo>
                  <a:pt x="52688" y="2054242"/>
                  <a:pt x="0" y="1997807"/>
                  <a:pt x="0" y="1930084"/>
                </a:cubicBezTo>
                <a:cubicBezTo>
                  <a:pt x="0" y="1930084"/>
                  <a:pt x="0" y="193008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vert="horz" wrap="square" lIns="199385" tIns="0" rIns="199385" bIns="42203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중국 대홍수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벵골만 역사상 가장 강력한 폭풍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허리케인에 붙일 이름 바닥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독일</a:t>
            </a:r>
            <a:r>
              <a:rPr lang="en-US" altLang="ko-KR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벨기에</a:t>
            </a:r>
            <a:r>
              <a:rPr lang="en-US" altLang="ko-KR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일본 폭우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한강 홍수 사건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Freeform 37">
            <a:extLst>
              <a:ext uri="{FF2B5EF4-FFF2-40B4-BE49-F238E27FC236}">
                <a16:creationId xmlns:a16="http://schemas.microsoft.com/office/drawing/2014/main" id="{8E15E26A-4ADD-FD81-4844-464FFA64B9A4}"/>
              </a:ext>
            </a:extLst>
          </p:cNvPr>
          <p:cNvSpPr>
            <a:spLocks/>
          </p:cNvSpPr>
          <p:nvPr/>
        </p:nvSpPr>
        <p:spPr bwMode="auto">
          <a:xfrm>
            <a:off x="523631" y="1319695"/>
            <a:ext cx="2699238" cy="489438"/>
          </a:xfrm>
          <a:custGeom>
            <a:avLst/>
            <a:gdLst>
              <a:gd name="T0" fmla="*/ 744 w 777"/>
              <a:gd name="T1" fmla="*/ 0 h 141"/>
              <a:gd name="T2" fmla="*/ 32 w 777"/>
              <a:gd name="T3" fmla="*/ 0 h 141"/>
              <a:gd name="T4" fmla="*/ 0 w 777"/>
              <a:gd name="T5" fmla="*/ 33 h 141"/>
              <a:gd name="T6" fmla="*/ 0 w 777"/>
              <a:gd name="T7" fmla="*/ 141 h 141"/>
              <a:gd name="T8" fmla="*/ 777 w 777"/>
              <a:gd name="T9" fmla="*/ 141 h 141"/>
              <a:gd name="T10" fmla="*/ 777 w 777"/>
              <a:gd name="T11" fmla="*/ 33 h 141"/>
              <a:gd name="T12" fmla="*/ 744 w 777"/>
              <a:gd name="T13" fmla="*/ 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7" h="141">
                <a:moveTo>
                  <a:pt x="744" y="0"/>
                </a:moveTo>
                <a:cubicBezTo>
                  <a:pt x="32" y="0"/>
                  <a:pt x="32" y="0"/>
                  <a:pt x="32" y="0"/>
                </a:cubicBezTo>
                <a:cubicBezTo>
                  <a:pt x="14" y="0"/>
                  <a:pt x="0" y="15"/>
                  <a:pt x="0" y="33"/>
                </a:cubicBezTo>
                <a:cubicBezTo>
                  <a:pt x="0" y="141"/>
                  <a:pt x="0" y="141"/>
                  <a:pt x="0" y="141"/>
                </a:cubicBezTo>
                <a:cubicBezTo>
                  <a:pt x="777" y="141"/>
                  <a:pt x="777" y="141"/>
                  <a:pt x="777" y="141"/>
                </a:cubicBezTo>
                <a:cubicBezTo>
                  <a:pt x="777" y="33"/>
                  <a:pt x="777" y="33"/>
                  <a:pt x="777" y="33"/>
                </a:cubicBezTo>
                <a:cubicBezTo>
                  <a:pt x="777" y="15"/>
                  <a:pt x="762" y="0"/>
                  <a:pt x="744" y="0"/>
                </a:cubicBezTo>
                <a:close/>
              </a:path>
            </a:pathLst>
          </a:custGeom>
          <a:solidFill>
            <a:srgbClr val="2F5BA3"/>
          </a:solidFill>
          <a:ln>
            <a:solidFill>
              <a:srgbClr val="2F5B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spcBef>
                <a:spcPts val="171"/>
              </a:spcBef>
              <a:tabLst>
                <a:tab pos="60873" algn="l"/>
                <a:tab pos="97396" algn="l"/>
              </a:tabLst>
            </a:pPr>
            <a:r>
              <a:rPr lang="ko-KR" altLang="en-US" sz="1704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가뭄</a:t>
            </a:r>
            <a:r>
              <a:rPr lang="en-US" altLang="ko-KR" sz="1704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704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폭염</a:t>
            </a:r>
          </a:p>
        </p:txBody>
      </p:sp>
      <p:sp>
        <p:nvSpPr>
          <p:cNvPr id="35" name="자유형 64">
            <a:extLst>
              <a:ext uri="{FF2B5EF4-FFF2-40B4-BE49-F238E27FC236}">
                <a16:creationId xmlns:a16="http://schemas.microsoft.com/office/drawing/2014/main" id="{0985B9A0-358A-831F-04FC-3A27957D3774}"/>
              </a:ext>
            </a:extLst>
          </p:cNvPr>
          <p:cNvSpPr>
            <a:spLocks/>
          </p:cNvSpPr>
          <p:nvPr/>
        </p:nvSpPr>
        <p:spPr bwMode="auto">
          <a:xfrm>
            <a:off x="523631" y="1809134"/>
            <a:ext cx="2699238" cy="1895955"/>
          </a:xfrm>
          <a:custGeom>
            <a:avLst/>
            <a:gdLst>
              <a:gd name="connsiteX0" fmla="*/ 0 w 2924175"/>
              <a:gd name="connsiteY0" fmla="*/ 0 h 2053951"/>
              <a:gd name="connsiteX1" fmla="*/ 2924175 w 2924175"/>
              <a:gd name="connsiteY1" fmla="*/ 0 h 2053951"/>
              <a:gd name="connsiteX2" fmla="*/ 2924175 w 2924175"/>
              <a:gd name="connsiteY2" fmla="*/ 1932927 h 2053951"/>
              <a:gd name="connsiteX3" fmla="*/ 2799982 w 2924175"/>
              <a:gd name="connsiteY3" fmla="*/ 2053499 h 2053951"/>
              <a:gd name="connsiteX4" fmla="*/ 1610743 w 2924175"/>
              <a:gd name="connsiteY4" fmla="*/ 2053499 h 2053951"/>
              <a:gd name="connsiteX5" fmla="*/ 1610098 w 2924175"/>
              <a:gd name="connsiteY5" fmla="*/ 2053951 h 2053951"/>
              <a:gd name="connsiteX6" fmla="*/ 1310314 w 2924175"/>
              <a:gd name="connsiteY6" fmla="*/ 2053951 h 2053951"/>
              <a:gd name="connsiteX7" fmla="*/ 1309669 w 2924175"/>
              <a:gd name="connsiteY7" fmla="*/ 2053499 h 2053951"/>
              <a:gd name="connsiteX8" fmla="*/ 120430 w 2924175"/>
              <a:gd name="connsiteY8" fmla="*/ 2053499 h 2053951"/>
              <a:gd name="connsiteX9" fmla="*/ 0 w 2924175"/>
              <a:gd name="connsiteY9" fmla="*/ 1932927 h 2053951"/>
              <a:gd name="connsiteX10" fmla="*/ 0 w 2924175"/>
              <a:gd name="connsiteY10" fmla="*/ 0 h 205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24175" h="2053951">
                <a:moveTo>
                  <a:pt x="0" y="0"/>
                </a:moveTo>
                <a:lnTo>
                  <a:pt x="2924175" y="0"/>
                </a:lnTo>
                <a:cubicBezTo>
                  <a:pt x="2924175" y="0"/>
                  <a:pt x="2924175" y="0"/>
                  <a:pt x="2924175" y="1932927"/>
                </a:cubicBezTo>
                <a:cubicBezTo>
                  <a:pt x="2924175" y="2000749"/>
                  <a:pt x="2867724" y="2053499"/>
                  <a:pt x="2799982" y="2053499"/>
                </a:cubicBezTo>
                <a:cubicBezTo>
                  <a:pt x="2799982" y="2053499"/>
                  <a:pt x="2799982" y="2053499"/>
                  <a:pt x="1610743" y="2053499"/>
                </a:cubicBezTo>
                <a:lnTo>
                  <a:pt x="1610098" y="2053951"/>
                </a:lnTo>
                <a:lnTo>
                  <a:pt x="1310314" y="2053951"/>
                </a:lnTo>
                <a:lnTo>
                  <a:pt x="1309669" y="2053499"/>
                </a:lnTo>
                <a:cubicBezTo>
                  <a:pt x="1309669" y="2053499"/>
                  <a:pt x="1309669" y="2053499"/>
                  <a:pt x="120430" y="2053499"/>
                </a:cubicBezTo>
                <a:cubicBezTo>
                  <a:pt x="52688" y="2053499"/>
                  <a:pt x="0" y="2000749"/>
                  <a:pt x="0" y="1932927"/>
                </a:cubicBezTo>
                <a:cubicBezTo>
                  <a:pt x="0" y="1932927"/>
                  <a:pt x="0" y="193292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5BA3"/>
            </a:solidFill>
            <a:round/>
            <a:headEnd/>
            <a:tailEnd/>
          </a:ln>
        </p:spPr>
        <p:txBody>
          <a:bodyPr vert="horz" wrap="square" lIns="199385" tIns="0" rIns="199385" bIns="42203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비정상적 건조 현상 </a:t>
            </a:r>
            <a:r>
              <a:rPr lang="en-US" altLang="ko-KR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흉년의 연속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지구 표면 온도 최고치 기록 갱신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태국 </a:t>
            </a:r>
            <a:r>
              <a:rPr lang="ko-KR" altLang="en-US" sz="1363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대가뭄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63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호주 </a:t>
            </a:r>
            <a:r>
              <a:rPr lang="ko-KR" altLang="en-US" sz="1363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3E3D43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대산불</a:t>
            </a:r>
            <a:endParaRPr lang="en-US" altLang="ko-KR" sz="136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3E3D43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F8B262-9179-F350-2E30-DD53EC565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4" y="3927406"/>
            <a:ext cx="3137061" cy="2679838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1BE681-A87A-1046-DBDA-E57E030E5387}"/>
              </a:ext>
            </a:extLst>
          </p:cNvPr>
          <p:cNvSpPr/>
          <p:nvPr/>
        </p:nvSpPr>
        <p:spPr>
          <a:xfrm>
            <a:off x="4756072" y="4072161"/>
            <a:ext cx="33377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이상기후로 인한 기후위기</a:t>
            </a:r>
            <a:endParaRPr lang="ko-KR" altLang="en-US" sz="24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5DE6E981-CA70-58EF-FDE6-D3E202A28064}"/>
              </a:ext>
            </a:extLst>
          </p:cNvPr>
          <p:cNvSpPr/>
          <p:nvPr/>
        </p:nvSpPr>
        <p:spPr>
          <a:xfrm>
            <a:off x="6172545" y="4876800"/>
            <a:ext cx="504825" cy="384830"/>
          </a:xfrm>
          <a:prstGeom prst="downArrow">
            <a:avLst/>
          </a:prstGeom>
          <a:solidFill>
            <a:srgbClr val="F9A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D8D5B0-5136-0202-C9AC-50838BF0D37D}"/>
              </a:ext>
            </a:extLst>
          </p:cNvPr>
          <p:cNvSpPr/>
          <p:nvPr/>
        </p:nvSpPr>
        <p:spPr>
          <a:xfrm>
            <a:off x="4893127" y="5604604"/>
            <a:ext cx="3063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이상기후 탐지의 중요성</a:t>
            </a:r>
            <a:endParaRPr lang="ko-KR" altLang="en-US" sz="24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78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주제 선정 이유</a:t>
            </a:r>
            <a:r>
              <a:rPr lang="en-US" altLang="ko-KR" dirty="0"/>
              <a:t>(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6FF61A-6E11-AFC1-7607-7D24F8D6A286}"/>
              </a:ext>
            </a:extLst>
          </p:cNvPr>
          <p:cNvSpPr txBox="1"/>
          <p:nvPr/>
        </p:nvSpPr>
        <p:spPr>
          <a:xfrm>
            <a:off x="5623368" y="1730699"/>
            <a:ext cx="2699778" cy="1206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늘어나는 인공위성 쓰레기들</a:t>
            </a: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14000"/>
              </a:lnSpc>
              <a:buAutoNum type="arabicPeriod"/>
            </a:pP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14000"/>
              </a:lnSpc>
            </a:pP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AI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필요한 위성영상 빅데이터</a:t>
            </a: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AE3689-4075-8ADC-5B7A-16EE78548B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99" y="4271165"/>
            <a:ext cx="3839344" cy="17368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3647F7-6852-84E9-5A3F-7DB9BFE9EC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76" y="993495"/>
            <a:ext cx="3798218" cy="165410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89DFE5-D01D-795F-D43C-3163DE3667B0}"/>
              </a:ext>
            </a:extLst>
          </p:cNvPr>
          <p:cNvSpPr/>
          <p:nvPr/>
        </p:nvSpPr>
        <p:spPr>
          <a:xfrm>
            <a:off x="5839810" y="1082798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위성데이터의 가능성</a:t>
            </a:r>
            <a:endParaRPr lang="ko-KR" altLang="en-US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6D6F8C-53F1-6EB1-BCE8-8BABB8162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879" y="1820545"/>
            <a:ext cx="2466975" cy="1847850"/>
          </a:xfrm>
          <a:prstGeom prst="rect">
            <a:avLst/>
          </a:prstGeom>
        </p:spPr>
      </p:pic>
      <p:sp>
        <p:nvSpPr>
          <p:cNvPr id="9" name="십자형 8">
            <a:extLst>
              <a:ext uri="{FF2B5EF4-FFF2-40B4-BE49-F238E27FC236}">
                <a16:creationId xmlns:a16="http://schemas.microsoft.com/office/drawing/2014/main" id="{3F777354-EF57-D61E-AE64-D5377690A6DA}"/>
              </a:ext>
            </a:extLst>
          </p:cNvPr>
          <p:cNvSpPr/>
          <p:nvPr/>
        </p:nvSpPr>
        <p:spPr>
          <a:xfrm>
            <a:off x="6666120" y="2149339"/>
            <a:ext cx="430003" cy="369332"/>
          </a:xfrm>
          <a:prstGeom prst="plus">
            <a:avLst>
              <a:gd name="adj" fmla="val 37895"/>
            </a:avLst>
          </a:prstGeom>
          <a:solidFill>
            <a:srgbClr val="F9A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6D6BDB-2A0A-56B5-C575-E695AE82B439}"/>
              </a:ext>
            </a:extLst>
          </p:cNvPr>
          <p:cNvSpPr/>
          <p:nvPr/>
        </p:nvSpPr>
        <p:spPr>
          <a:xfrm>
            <a:off x="5488715" y="3144096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위성데이터 </a:t>
            </a:r>
            <a:r>
              <a:rPr lang="en-US" altLang="ko-KR" sz="2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</a:t>
            </a:r>
            <a:r>
              <a:rPr lang="ko-KR" altLang="en-US" sz="2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이상기후</a:t>
            </a:r>
            <a:endParaRPr lang="ko-KR" altLang="en-US" sz="24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ea typeface="나눔바른고딕" panose="020B0603020101020101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52F798-F32D-4A4B-9509-738BAA6EFC51}"/>
              </a:ext>
            </a:extLst>
          </p:cNvPr>
          <p:cNvCxnSpPr/>
          <p:nvPr/>
        </p:nvCxnSpPr>
        <p:spPr>
          <a:xfrm>
            <a:off x="449476" y="3981450"/>
            <a:ext cx="8192667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4FF0BED-AE0B-6C51-5236-F1C2D9D7264D}"/>
              </a:ext>
            </a:extLst>
          </p:cNvPr>
          <p:cNvSpPr txBox="1"/>
          <p:nvPr/>
        </p:nvSpPr>
        <p:spPr>
          <a:xfrm>
            <a:off x="191651" y="4631976"/>
            <a:ext cx="4685149" cy="180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4000"/>
              </a:lnSpc>
              <a:buAutoNum type="arabicPeriod"/>
            </a:pP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유럽의 기상위성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EUMETSAT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분간격으로 찍은 시계열 구름데이터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 중에서도 특히 유럽의 상공을 측정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342900" indent="-342900">
              <a:lnSpc>
                <a:spcPct val="114000"/>
              </a:lnSpc>
              <a:buAutoNum type="arabicPeriod"/>
            </a:pP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2017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~ 2018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월까지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년간 측정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14000"/>
              </a:lnSpc>
              <a:buAutoNum type="arabicPeriod"/>
            </a:pP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728x728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픽셀 공간해상도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14000"/>
              </a:lnSpc>
              <a:buAutoNum type="arabicPeriod"/>
            </a:pP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달마다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2500~3000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</a:t>
            </a:r>
            <a:r>
              <a:rPr lang="en-US" altLang="ko-KR" sz="14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npy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위경도를 나타내는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</a:t>
            </a:r>
            <a:r>
              <a:rPr lang="en-US" altLang="ko-KR" sz="14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NEO.npz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</a:t>
            </a:r>
            <a:r>
              <a:rPr lang="en-US" altLang="ko-KR" sz="14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npy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파일마다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15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 간격을 더한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timestemps.py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64EE85-0A48-15A9-EDCD-026283330110}"/>
              </a:ext>
            </a:extLst>
          </p:cNvPr>
          <p:cNvSpPr/>
          <p:nvPr/>
        </p:nvSpPr>
        <p:spPr>
          <a:xfrm>
            <a:off x="408798" y="4191452"/>
            <a:ext cx="2882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Kaggle </a:t>
            </a:r>
            <a:r>
              <a:rPr lang="en-US" altLang="ko-KR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CloudCast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Dataset</a:t>
            </a:r>
            <a:endParaRPr lang="ko-KR" altLang="en-US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970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 소개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3C9140-DDAB-12DA-4169-8223D1E73956}"/>
              </a:ext>
            </a:extLst>
          </p:cNvPr>
          <p:cNvSpPr txBox="1"/>
          <p:nvPr/>
        </p:nvSpPr>
        <p:spPr>
          <a:xfrm>
            <a:off x="429101" y="1062363"/>
            <a:ext cx="2912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ConvLSTM2D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CCCE2B8-DD7C-FD1A-AB4D-29B85D8B7122}"/>
              </a:ext>
            </a:extLst>
          </p:cNvPr>
          <p:cNvSpPr/>
          <p:nvPr/>
        </p:nvSpPr>
        <p:spPr>
          <a:xfrm>
            <a:off x="5164580" y="1871992"/>
            <a:ext cx="3509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Keras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Example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</a:t>
            </a:r>
            <a:r>
              <a:rPr lang="ko-KR" altLang="en-US" sz="16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나와있듯이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시계열 정보를 포함하는 이미지 데이터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즉 비디오 데이터의 다음 프레임을 예측하기 위해 기본적으로 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Convolutional LSTMs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소개하고 있다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6153F9-4A41-0967-BDB4-78A8EBAA3D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29" y="1871992"/>
            <a:ext cx="4355854" cy="2434566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9A48CE-B530-13AC-FD83-52AA29620953}"/>
              </a:ext>
            </a:extLst>
          </p:cNvPr>
          <p:cNvSpPr/>
          <p:nvPr/>
        </p:nvSpPr>
        <p:spPr>
          <a:xfrm>
            <a:off x="429101" y="4654253"/>
            <a:ext cx="4797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시공간적 상관관계를 포착할 수 있는 </a:t>
            </a:r>
            <a:r>
              <a:rPr lang="ko-KR" altLang="en-US" sz="16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네트워트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구조</a:t>
            </a:r>
            <a:endParaRPr lang="en-US" altLang="ko-KR" sz="16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6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Dense Layer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가지는 순서 의미 희석 문제점 해결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C3C76D2-CB50-F642-4637-ABB71F91452E}"/>
              </a:ext>
            </a:extLst>
          </p:cNvPr>
          <p:cNvSpPr/>
          <p:nvPr/>
        </p:nvSpPr>
        <p:spPr>
          <a:xfrm>
            <a:off x="429101" y="5795637"/>
            <a:ext cx="8203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실제로 </a:t>
            </a:r>
            <a:r>
              <a:rPr lang="ko-KR" altLang="en-US" sz="16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시간연속성을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고려한 딥러닝 기반 강우 예측에 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ConvLSTM2D U-Net 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알고리즘을 사용하여 높은 정확도를 얻어낼 수 있다</a:t>
            </a:r>
            <a:r>
              <a:rPr lang="en-US" altLang="ko-KR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– 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한수원 </a:t>
            </a:r>
            <a:r>
              <a:rPr lang="en-US" altLang="ko-KR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“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 연속성을 고려한 딥러닝 기반 레이더 강우예측</a:t>
            </a:r>
            <a:r>
              <a:rPr lang="en-US" altLang="ko-KR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” 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6CA30C-C565-52F4-4C60-16F21110DB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951" y="3453943"/>
            <a:ext cx="3044949" cy="203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1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 소개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3C9140-DDAB-12DA-4169-8223D1E73956}"/>
              </a:ext>
            </a:extLst>
          </p:cNvPr>
          <p:cNvSpPr txBox="1"/>
          <p:nvPr/>
        </p:nvSpPr>
        <p:spPr>
          <a:xfrm>
            <a:off x="470229" y="1062363"/>
            <a:ext cx="2383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OracleGAN</a:t>
            </a:r>
            <a:endParaRPr lang="en-US" altLang="ko-KR" sz="36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CCCE2B8-DD7C-FD1A-AB4D-29B85D8B7122}"/>
              </a:ext>
            </a:extLst>
          </p:cNvPr>
          <p:cNvSpPr/>
          <p:nvPr/>
        </p:nvSpPr>
        <p:spPr>
          <a:xfrm>
            <a:off x="5031230" y="1812474"/>
            <a:ext cx="3509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기상현상은 카오스 시스템의 대표적인 예로 가장 대표적인 성질로는 초기 조건의 민감성이 있다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이를 고려하여 기상영상 추측에서 더 이점을 가질 수 있도록 설계된 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GAN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9A48CE-B530-13AC-FD83-52AA29620953}"/>
              </a:ext>
            </a:extLst>
          </p:cNvPr>
          <p:cNvSpPr/>
          <p:nvPr/>
        </p:nvSpPr>
        <p:spPr>
          <a:xfrm>
            <a:off x="470229" y="5133917"/>
            <a:ext cx="56097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기본적으로 </a:t>
            </a:r>
            <a:r>
              <a:rPr lang="en-US" altLang="ko-KR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Pix2Pix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동일한 구조</a:t>
            </a:r>
            <a:endParaRPr lang="en-US" altLang="ko-KR" sz="16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6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Generator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</a:t>
            </a:r>
            <a:r>
              <a:rPr lang="en-US" altLang="ko-KR" sz="16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UNet</a:t>
            </a:r>
            <a:r>
              <a:rPr lang="en-US" altLang="ko-KR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Discriminator</a:t>
            </a: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</a:t>
            </a:r>
            <a:r>
              <a:rPr lang="en-US" altLang="ko-KR" sz="16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ResNet</a:t>
            </a:r>
            <a:endParaRPr lang="en-US" altLang="ko-KR" sz="16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6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하나의 입력 데이터로부터 여러 데이터를 출력하는 일대다 구조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F23604-5853-5013-FDC7-959B3D7E7BFA}"/>
              </a:ext>
            </a:extLst>
          </p:cNvPr>
          <p:cNvSpPr/>
          <p:nvPr/>
        </p:nvSpPr>
        <p:spPr>
          <a:xfrm>
            <a:off x="5031230" y="3601144"/>
            <a:ext cx="3509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Generator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비용 함수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1979F2-DA0D-0922-B80D-83F361047E75}"/>
              </a:ext>
            </a:extLst>
          </p:cNvPr>
          <p:cNvSpPr/>
          <p:nvPr/>
        </p:nvSpPr>
        <p:spPr>
          <a:xfrm>
            <a:off x="5031229" y="4795363"/>
            <a:ext cx="3509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Discriminator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비용 함수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603BA5-B2F8-3D16-0251-1045AB18F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22" y="1822902"/>
            <a:ext cx="3869890" cy="31528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568B076-8AA3-764E-D3E1-2CFDE01F52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613" y="4050866"/>
            <a:ext cx="3607946" cy="4869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95C22F5-7BEC-D8FE-53D7-E7AAF554D0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951" y="5209025"/>
            <a:ext cx="3537820" cy="46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9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한계점 및 발전방향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CCCE2B8-DD7C-FD1A-AB4D-29B85D8B7122}"/>
              </a:ext>
            </a:extLst>
          </p:cNvPr>
          <p:cNvSpPr/>
          <p:nvPr/>
        </p:nvSpPr>
        <p:spPr>
          <a:xfrm>
            <a:off x="766516" y="2065452"/>
            <a:ext cx="5150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RAM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문제로 인해 구현 실패</a:t>
            </a: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OracleGAN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</a:t>
            </a:r>
            <a:r>
              <a:rPr lang="en-US" altLang="ko-KR" sz="16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pytorch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코드로서 단순히 코드 실습에 그침</a:t>
            </a: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시간이 </a:t>
            </a:r>
            <a:r>
              <a:rPr lang="ko-KR" altLang="en-US" sz="16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오래걸림</a:t>
            </a:r>
            <a:endParaRPr lang="ko-KR" altLang="en-US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FCA42-7EEE-4E72-839B-692818ADB099}"/>
              </a:ext>
            </a:extLst>
          </p:cNvPr>
          <p:cNvSpPr txBox="1"/>
          <p:nvPr/>
        </p:nvSpPr>
        <p:spPr>
          <a:xfrm>
            <a:off x="503446" y="1062363"/>
            <a:ext cx="13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한계점</a:t>
            </a:r>
            <a:endParaRPr lang="en-US" altLang="ko-KR" sz="36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0E516-AFFF-4D49-E7B1-68BD44825690}"/>
              </a:ext>
            </a:extLst>
          </p:cNvPr>
          <p:cNvSpPr txBox="1"/>
          <p:nvPr/>
        </p:nvSpPr>
        <p:spPr>
          <a:xfrm>
            <a:off x="503446" y="4088919"/>
            <a:ext cx="1872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발전 방향</a:t>
            </a:r>
            <a:endParaRPr lang="en-US" altLang="ko-KR" sz="3600" spc="-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9AC1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E4F49D0-DF99-7AD0-D34F-95CA715B7CD0}"/>
              </a:ext>
            </a:extLst>
          </p:cNvPr>
          <p:cNvCxnSpPr/>
          <p:nvPr/>
        </p:nvCxnSpPr>
        <p:spPr>
          <a:xfrm>
            <a:off x="449476" y="3819525"/>
            <a:ext cx="8192667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97A387-DE21-4571-C8CC-E36D957B4B7E}"/>
              </a:ext>
            </a:extLst>
          </p:cNvPr>
          <p:cNvSpPr/>
          <p:nvPr/>
        </p:nvSpPr>
        <p:spPr>
          <a:xfrm>
            <a:off x="766516" y="5004643"/>
            <a:ext cx="5329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ConvLSTM2D U-Net, </a:t>
            </a:r>
            <a:r>
              <a:rPr lang="en-US" altLang="ko-KR" sz="16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RainNet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까지 확장하여 해결해보기</a:t>
            </a: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OracleGAN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</a:t>
            </a:r>
            <a:r>
              <a:rPr lang="en-US" altLang="ko-KR" sz="16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tensorflow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코드로 변환해보기</a:t>
            </a: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 나아가 이상기후 </a:t>
            </a:r>
            <a:r>
              <a:rPr lang="en-US" altLang="ko-KR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Detection</a:t>
            </a:r>
            <a:r>
              <a:rPr lang="ko-KR" altLang="en-US" sz="1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주제까지 고민해보기</a:t>
            </a:r>
          </a:p>
        </p:txBody>
      </p:sp>
    </p:spTree>
    <p:extLst>
      <p:ext uri="{BB962C8B-B14F-4D97-AF65-F5344CB8AC3E}">
        <p14:creationId xmlns:p14="http://schemas.microsoft.com/office/powerpoint/2010/main" val="435614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13817" y="1895902"/>
            <a:ext cx="31163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F9AC1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</a:t>
            </a:r>
            <a:r>
              <a:rPr lang="en-US" altLang="ko-KR" sz="4800" b="1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hank you</a:t>
            </a:r>
            <a:endParaRPr lang="ko-KR" altLang="en-US" sz="4800" b="1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762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367</Words>
  <Application>Microsoft Office PowerPoint</Application>
  <PresentationFormat>화면 슬라이드 쇼(4:3)</PresentationFormat>
  <Paragraphs>76</Paragraphs>
  <Slides>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나눔바른고딕</vt:lpstr>
      <vt:lpstr>맑은 고딕</vt:lpstr>
      <vt:lpstr>Arial</vt:lpstr>
      <vt:lpstr>Calibri</vt:lpstr>
      <vt:lpstr>Calibri Light</vt:lpstr>
      <vt:lpstr>Wingdings</vt:lpstr>
      <vt:lpstr>Office 테마</vt:lpstr>
      <vt:lpstr>AI_12_Section4_Project</vt:lpstr>
      <vt:lpstr>PowerPoint 프레젠테이션</vt:lpstr>
      <vt:lpstr>1. 주제 선정 이유(배경)</vt:lpstr>
      <vt:lpstr>1. 주제 선정 이유(데이터)</vt:lpstr>
      <vt:lpstr>2. 모델 소개</vt:lpstr>
      <vt:lpstr>2. 모델 소개</vt:lpstr>
      <vt:lpstr>3. 한계점 및 발전방향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Jihoon</dc:creator>
  <cp:lastModifiedBy>정 태환</cp:lastModifiedBy>
  <cp:revision>17</cp:revision>
  <dcterms:created xsi:type="dcterms:W3CDTF">2016-06-17T02:07:08Z</dcterms:created>
  <dcterms:modified xsi:type="dcterms:W3CDTF">2022-05-27T06:06:02Z</dcterms:modified>
</cp:coreProperties>
</file>